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viewers. Today we walk through the independent Fast Labs report for Bentam Chalk's Soy Protein X, explaining verified macronutrients, RDA percentages, and why batch testing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 requires proof. We test every single batch with Fast Labs so customers know exact nutritional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300ml bottle delivers 33% of daily protein and over 100% of daily Omega-3 ALA from whole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Soy provides a complete amino acid profile without requiring synthetic powder blending.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Micronutrients in whole-food matrices offer high bioavailability and fill common dietary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stripped whey isolates, whole soy matrices deliver protective bioactives and healthy lipids.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2x the protein of dairy milk with zero cholesterol and whole fiber, without the ultra-processing of whey powders.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batch verification assurance and customer ordering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noFill/>
          <a:ln w="15875">
            <a:solidFill>
              <a:srgbClr val="33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4A574"/>
                </a:solidFill>
                <a:latin typeface="Calibri"/>
              </a:rPr>
              <a:t>BENTAM CHALK™  |  NUTRITION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LAB REPORT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 i="1">
                <a:solidFill>
                  <a:srgbClr val="E8E8E8"/>
                </a:solidFill>
                <a:latin typeface="Calibri"/>
              </a:rPr>
              <a:t>Understanding Your Soy Protein X Nutrition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977639"/>
            <a:ext cx="6885432" cy="777240"/>
          </a:xfrm>
          <a:prstGeom prst="roundRect">
            <a:avLst/>
          </a:prstGeom>
          <a:solidFill>
            <a:srgbClr val="242424"/>
          </a:solidFill>
          <a:ln w="15875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977639"/>
            <a:ext cx="68854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1">
                <a:solidFill>
                  <a:srgbClr val="F0C896"/>
                </a:solidFill>
                <a:latin typeface="Calibri"/>
              </a:rPr>
              <a:t>[ Fast Labs Laboratory Verified — Every Batch Tested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8E8"/>
                </a:solidFill>
                <a:latin typeface="Calibri"/>
              </a:rPr>
              <a:t>bentamchalk.com  |  FSSAI Lic. 22726113001754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WHY LAB VERIFICATION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Moving Beyond Industry Averages &amp; Estimates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46504"/>
            <a:ext cx="402336" cy="402336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737360"/>
            <a:ext cx="384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0C896"/>
                </a:solidFill>
                <a:latin typeface="Calibri"/>
              </a:rPr>
              <a:t>Dairy Context:  </a:t>
            </a:r>
            <a:r>
              <a:rPr sz="1450" b="0" i="0">
                <a:solidFill>
                  <a:srgbClr val="E8E8E8"/>
                </a:solidFill>
                <a:latin typeface="Calibri"/>
              </a:rPr>
              <a:t>FSSAI 2011 survey found 68% of 1,791 milk samples failed quality/adulteration standards.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60904"/>
            <a:ext cx="402336" cy="402336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651760"/>
            <a:ext cx="384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0604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0C896"/>
                </a:solidFill>
                <a:latin typeface="Calibri"/>
              </a:rPr>
              <a:t>Our Protocol:  </a:t>
            </a:r>
            <a:r>
              <a:rPr sz="1450" b="0" i="0">
                <a:solidFill>
                  <a:srgbClr val="E8E8E8"/>
                </a:solidFill>
                <a:latin typeface="Calibri"/>
              </a:rPr>
              <a:t>Every single batch of Soy Protein X is independently tested by Fast Labs.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75304"/>
            <a:ext cx="402336" cy="402336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566160"/>
            <a:ext cx="384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2044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0C896"/>
                </a:solidFill>
                <a:latin typeface="Calibri"/>
              </a:rPr>
              <a:t>Recipe Specific:  </a:t>
            </a:r>
            <a:r>
              <a:rPr sz="1450" b="0" i="0">
                <a:solidFill>
                  <a:srgbClr val="E8E8E8"/>
                </a:solidFill>
                <a:latin typeface="Calibri"/>
              </a:rPr>
              <a:t>Verified laboratory numbers, never generic database estimates.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89704"/>
            <a:ext cx="402336" cy="402336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480560"/>
            <a:ext cx="384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43484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0C896"/>
                </a:solidFill>
                <a:latin typeface="Calibri"/>
              </a:rPr>
              <a:t>Clean Freshness:  </a:t>
            </a:r>
            <a:r>
              <a:rPr sz="1450" b="0" i="0">
                <a:solidFill>
                  <a:srgbClr val="E8E8E8"/>
                </a:solidFill>
                <a:latin typeface="Calibri"/>
              </a:rPr>
              <a:t>3-day refrigeration shelf-life verified with zero synthetic preservatives.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404104"/>
            <a:ext cx="402336" cy="402336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94960"/>
            <a:ext cx="384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10317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0C896"/>
                </a:solidFill>
                <a:latin typeface="Calibri"/>
              </a:rPr>
              <a:t>Consumer Certainty:  </a:t>
            </a:r>
            <a:r>
              <a:rPr sz="1450" b="0" i="0">
                <a:solidFill>
                  <a:srgbClr val="E8E8E8"/>
                </a:solidFill>
                <a:latin typeface="Calibri"/>
              </a:rPr>
              <a:t>Track macros accurately with proof of zero cholesterol burden.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SOY PROTEIN X: LAB PROFILE (300ml)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Core Nutrients vs. Recommended Dietary Allowance (RDA)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1091672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1828800"/>
                <a:gridCol w="1737360"/>
                <a:gridCol w="4873752"/>
              </a:tblGrid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Nutrient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% Daily RDA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Key Body Role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17.91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Complete 9 EAA muscle synthesis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Omega-3 ALA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1.62 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125%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Full day's requirement for heart/cells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Dietary Fiber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3.24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Satiety and metabolic regulation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Vitamin B1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0.72 mg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Cellular energy metabolism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Vitamin B2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0.90 mg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Antioxidant &amp; mitochondrial support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Magnesium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81 mg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Neuromuscular recovery &amp; sleep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Manganese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0.65 mg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Connective tissue &amp; bone matrix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Cholesterol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 mg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Lab-verified heart-safe baseline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8E8E8"/>
                </a:solidFill>
                <a:latin typeface="Calibri"/>
              </a:rPr>
              <a:t>500ml bottle delivers 29.85g protein (54% RDA) and 2.70g Omega-3 ALA (208% RDA).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THE 9 ESSENTIAL AMINO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Why Soy Protein X Matches Dairy &amp; Egg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20640" cy="265176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  <a:latin typeface="Cambria"/>
              </a:rPr>
              <a:t>The Plant Protein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Most plant proteins lack key amino acids — grains lack lysine; beans lack methionine.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2472" y="1783080"/>
            <a:ext cx="5120640" cy="265176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2057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C896"/>
                </a:solidFill>
                <a:latin typeface="Cambria"/>
              </a:rPr>
              <a:t>The Soy Exception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65176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Soy contains all 9 EAAs in optimal balance, earning a PDCAAS score of 1.00 — identical to milk and egg.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10911535" cy="105156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18001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D4A574"/>
                </a:solidFill>
                <a:latin typeface="Calibri"/>
              </a:rPr>
              <a:t>Natural BCAAs —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Contains ~2.4 g branched-chain amino acids (Leucine, Isoleucine, Valine) naturally in liquid suspension.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ESSENTIAL VITAMINS &amp; MINERALS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Whole-Food Micronutrient Insurance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20640" cy="393192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" y="2034540"/>
            <a:ext cx="502920" cy="50292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6654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mbria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3911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0C896"/>
                </a:solidFill>
                <a:latin typeface="Cambria"/>
              </a:rPr>
              <a:t>B-Complex (Energy)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4805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Thiamine B1 (60% RDA) + Riboflavin B2 (69% RDA) convert macros into active ATP without synthetic additives.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472" y="1783080"/>
            <a:ext cx="5120640" cy="393192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9652" y="2034540"/>
            <a:ext cx="502920" cy="50292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06654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mbria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03911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0C896"/>
                </a:solidFill>
                <a:latin typeface="Cambria"/>
              </a:rPr>
              <a:t>Vital Trace Minerals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880360"/>
            <a:ext cx="44805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Copper 0.35mg (39% RDA), Manganese 0.65mg (28% RDA), Potassium 396mg, and Iron 2mg for oxygen transport and tissue synthesis.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BIOACTIVES: BEYOND BASIC PROTEIN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Functional Compounds Dairy &amp; Powders Lack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01568" cy="393192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20824" y="21031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0C896"/>
                </a:solidFill>
                <a:latin typeface="Cambria"/>
              </a:rPr>
              <a:t>Omega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E8E8E8"/>
                </a:solidFill>
                <a:latin typeface="Calibri"/>
              </a:rPr>
              <a:t>Delivers an optimal ~2:1 Omega-6 to Omega-3 ratio, countering standard modern diets (10:1+).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6532" y="1783080"/>
            <a:ext cx="3401568" cy="393192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37276" y="21031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6532" y="2167128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852" y="320040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0C896"/>
                </a:solidFill>
                <a:latin typeface="Cambria"/>
              </a:rPr>
              <a:t>Soy Isoflavones (25–70 mg)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852" y="406908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E8E8E8"/>
                </a:solidFill>
                <a:latin typeface="Calibri"/>
              </a:rPr>
              <a:t>Natural phytoestrogens proven safe in extensive research, supporting cardiovascular and bone health.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4" y="1783080"/>
            <a:ext cx="3401568" cy="393192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53728" y="21031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2984" y="2167128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320040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0C896"/>
                </a:solidFill>
                <a:latin typeface="Cambria"/>
              </a:rPr>
              <a:t>Whole-Food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406908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E8E8E8"/>
                </a:solidFill>
                <a:latin typeface="Calibri"/>
              </a:rPr>
              <a:t>Sourced with natural plant sterols, lecithin, and lignans for healthy lipid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HOW SOY PROTEIN X COMPARES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300ml Bottle vs. Common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1000232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2843784"/>
                <a:gridCol w="2843784"/>
                <a:gridCol w="2660904"/>
              </a:tblGrid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Soy Protein X (300ml)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Dairy Milk (1 Cup)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Whey Shake (30g Scoop)</a:t>
                      </a:r>
                    </a:p>
                  </a:txBody>
                  <a:tcPr marL="109728" marR="109728" marT="54864" marB="54864" anchor="ctr">
                    <a:solidFill>
                      <a:srgbClr val="D4A574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17.91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8.0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20–24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Cholesterol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0 mg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24 mg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Trace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Saturated Fat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1.17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4.7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~1.5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Dietary Fiber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3.24 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 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 g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Omega-3 ALA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1.62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0 g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109728" marR="109728" marT="54864" marB="54864" anchor="ctr">
                    <a:solidFill>
                      <a:srgbClr val="212121"/>
                    </a:solidFill>
                  </a:tcPr>
                </a:tc>
              </a:tr>
              <a:tr h="5421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Clean Ingredients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0C896"/>
                          </a:solidFill>
                          <a:latin typeface="Calibri"/>
                        </a:rPr>
                        <a:t>Fresh Whole-Food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Packaged Dairy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Processed Powder</a:t>
                      </a:r>
                    </a:p>
                  </a:txBody>
                  <a:tcPr marL="109728" marR="109728" marT="54864" marB="54864" anchor="ctr">
                    <a:solidFill>
                      <a:srgbClr val="2727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0C896"/>
                </a:solidFill>
                <a:latin typeface="Cambria"/>
              </a:rPr>
              <a:t>LAB-VERIFIED. SCIENCE-BACKED.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E8E8"/>
                </a:solidFill>
                <a:latin typeface="Calibri"/>
              </a:rPr>
              <a:t>Farm to Glass Nutrition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400800" cy="274320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19456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17627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4884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Independent Fast Labs testing on every single production batch.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7180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95351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2608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Pricing: ₹35 (300ml) | ₹50 (500ml)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74904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73075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E8E8E8"/>
                </a:solidFill>
                <a:latin typeface="Calibri"/>
              </a:rPr>
              <a:t>Web: bentamchalk.com  |  WhatsApp: +91 92580 10913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2" y="1783080"/>
            <a:ext cx="4208983" cy="274320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103120"/>
            <a:ext cx="36603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4A574"/>
                </a:solidFill>
                <a:latin typeface="Calibri"/>
              </a:rPr>
              <a:t>GET YOURS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697480"/>
            <a:ext cx="384322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₹35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3474720"/>
            <a:ext cx="38432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8E8E8"/>
                </a:solidFill>
                <a:latin typeface="Calibri"/>
              </a:rPr>
              <a:t>300ml Bottle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3977640"/>
            <a:ext cx="38432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0C896"/>
                </a:solidFill>
                <a:latin typeface="Calibri"/>
              </a:rPr>
              <a:t>500ml — ₹50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911535" cy="914400"/>
          </a:xfrm>
          <a:prstGeom prst="round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1">
                <a:solidFill>
                  <a:srgbClr val="F0C896"/>
                </a:solidFill>
                <a:latin typeface="Calibri"/>
              </a:rPr>
              <a:t>“Profit will never come before our conscience.”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E8E8E8"/>
                </a:solidFill>
                <a:latin typeface="Calibri"/>
              </a:rPr>
              <a:t>— Tej Tarun Upadhyay &amp; Damini Raghuvanshi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